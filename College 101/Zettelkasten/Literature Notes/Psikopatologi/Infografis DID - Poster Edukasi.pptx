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731520"/>
            <a:ext cx="3200400" cy="3200400"/>
          </a:xfrm>
          <a:prstGeom prst="ellipse">
            <a:avLst/>
          </a:prstGeom>
          <a:solidFill>
            <a:srgbClr val="C4B0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-1097280"/>
            <a:ext cx="2286000" cy="2286000"/>
          </a:xfrm>
          <a:prstGeom prst="ellipse">
            <a:avLst/>
          </a:prstGeom>
          <a:solidFill>
            <a:srgbClr val="8EC8C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548640"/>
            <a:ext cx="2743200" cy="2743200"/>
          </a:xfrm>
          <a:prstGeom prst="ellipse">
            <a:avLst/>
          </a:prstGeom>
          <a:solidFill>
            <a:srgbClr val="C4B0E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274320"/>
            <a:ext cx="1828800" cy="1828800"/>
          </a:xfrm>
          <a:prstGeom prst="ellipse">
            <a:avLst/>
          </a:prstGeom>
          <a:solidFill>
            <a:srgbClr val="8EC8C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4320"/>
            <a:ext cx="9592056" cy="1645920"/>
          </a:xfrm>
          <a:prstGeom prst="roundRect">
            <a:avLst>
              <a:gd name="adj" fmla="val 8333"/>
            </a:avLst>
          </a:prstGeom>
          <a:solidFill>
            <a:srgbClr val="7B5EA7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943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411480"/>
            <a:ext cx="7763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Memahami Gangguan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Identitas Disosiatif (DID)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37360" y="141732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Edukasi Psikopatologi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296" y="59436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2240280"/>
            <a:ext cx="959205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24028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2A7B88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2514600"/>
            <a:ext cx="640080" cy="640080"/>
          </a:xfrm>
          <a:prstGeom prst="ellipse">
            <a:avLst/>
          </a:prstGeom>
          <a:solidFill>
            <a:srgbClr val="D4F0F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06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A7B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Itu DID?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005840" y="3154680"/>
            <a:ext cx="8677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Gangguan Identitas Disosiatif (DID), sebelumnya dikenal sebagai Gangguan Kepribadian Ganda, ditandai oleh keberadaan dua atau lebih identitas atau kepribadian berbeda dalam satu individu. Masing-masing identitas memiliki trait, memori, tingkah laku, dan gaya bicara yang berbeda. Pergantian antar identitas (switching) dapat terjadi secara tiba-tiba dan sering disertai amnesia disosiatif (DSM-5-TR; Nevid et al., 2018).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463040" y="4572000"/>
            <a:ext cx="7763256" cy="36576"/>
          </a:xfrm>
          <a:prstGeom prst="rect">
            <a:avLst/>
          </a:prstGeom>
          <a:solidFill>
            <a:srgbClr val="D4F0F0"/>
          </a:solidFill>
          <a:ln/>
        </p:spPr>
      </p:sp>
      <p:sp>
        <p:nvSpPr>
          <p:cNvPr id="18" name="Shape 13"/>
          <p:cNvSpPr/>
          <p:nvPr/>
        </p:nvSpPr>
        <p:spPr>
          <a:xfrm>
            <a:off x="548640" y="4846320"/>
            <a:ext cx="461314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4846320"/>
            <a:ext cx="4613148" cy="73152"/>
          </a:xfrm>
          <a:prstGeom prst="roundRect">
            <a:avLst>
              <a:gd name="adj" fmla="val 50000"/>
            </a:avLst>
          </a:prstGeom>
          <a:solidFill>
            <a:srgbClr val="2A7B88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120640"/>
            <a:ext cx="594360" cy="594360"/>
          </a:xfrm>
          <a:prstGeom prst="ellipse">
            <a:avLst/>
          </a:prstGeom>
          <a:solidFill>
            <a:srgbClr val="D4F0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19379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20640"/>
            <a:ext cx="32415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7B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Gejala Utama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868680" y="5870448"/>
            <a:ext cx="320040" cy="320040"/>
          </a:xfrm>
          <a:prstGeom prst="ellipse">
            <a:avLst/>
          </a:prstGeom>
          <a:solidFill>
            <a:srgbClr val="D4F0F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91616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58521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Keberadaan 2 atau lebih identitas/kepribadian yang berbeda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868680" y="6327648"/>
            <a:ext cx="320040" cy="320040"/>
          </a:xfrm>
          <a:prstGeom prst="ellipse">
            <a:avLst/>
          </a:prstGeom>
          <a:solidFill>
            <a:srgbClr val="D4F0F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637336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25880" y="63093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Amnesia disosiatif, tidak mampu mengingat peristiwa penting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868680" y="6784848"/>
            <a:ext cx="320040" cy="320040"/>
          </a:xfrm>
          <a:prstGeom prst="ellipse">
            <a:avLst/>
          </a:prstGeom>
          <a:solidFill>
            <a:srgbClr val="D4F0F0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830568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25880" y="67665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Kesenjangan memori terhadap peristiwa sehari-hari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68680" y="7242048"/>
            <a:ext cx="320040" cy="320040"/>
          </a:xfrm>
          <a:prstGeom prst="ellipse">
            <a:avLst/>
          </a:prstGeom>
          <a:solidFill>
            <a:srgbClr val="D4F0F0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287768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325880" y="72237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perilaku, sikap, dan preferensi yang drastis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868680" y="7699248"/>
            <a:ext cx="320040" cy="320040"/>
          </a:xfrm>
          <a:prstGeom prst="ellipse">
            <a:avLst/>
          </a:prstGeom>
          <a:solidFill>
            <a:srgbClr val="D4F0F0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7744968"/>
            <a:ext cx="228600" cy="2286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325880" y="76809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 signifikan atau gangguan fungsi sosial/pekerjaan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5527548" y="4846320"/>
            <a:ext cx="461314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5527548" y="4846320"/>
            <a:ext cx="4613148" cy="7315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/>
        </p:spPr>
      </p:sp>
      <p:sp>
        <p:nvSpPr>
          <p:cNvPr id="40" name="Shape 29"/>
          <p:cNvSpPr/>
          <p:nvPr/>
        </p:nvSpPr>
        <p:spPr>
          <a:xfrm>
            <a:off x="5801868" y="5120640"/>
            <a:ext cx="594360" cy="594360"/>
          </a:xfrm>
          <a:prstGeom prst="ellipse">
            <a:avLst/>
          </a:prstGeom>
          <a:solidFill>
            <a:srgbClr val="E8D5FF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5020" y="5193792"/>
            <a:ext cx="438912" cy="43891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579108" y="5120640"/>
            <a:ext cx="32415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Faktor Risiko</a:t>
            </a:r>
            <a:endParaRPr lang="en-US" sz="1800" dirty="0"/>
          </a:p>
        </p:txBody>
      </p:sp>
      <p:sp>
        <p:nvSpPr>
          <p:cNvPr id="43" name="Shape 31"/>
          <p:cNvSpPr/>
          <p:nvPr/>
        </p:nvSpPr>
        <p:spPr>
          <a:xfrm>
            <a:off x="5847588" y="5870448"/>
            <a:ext cx="320040" cy="320040"/>
          </a:xfrm>
          <a:prstGeom prst="ellipse">
            <a:avLst/>
          </a:prstGeom>
          <a:solidFill>
            <a:srgbClr val="E8D5FF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3308" y="5916168"/>
            <a:ext cx="228600" cy="22860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304788" y="58521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berat pada masa kanak-kanak (fisik, seksual, emosional)</a:t>
            </a:r>
            <a:endParaRPr lang="en-US" sz="1100" dirty="0"/>
          </a:p>
        </p:txBody>
      </p:sp>
      <p:sp>
        <p:nvSpPr>
          <p:cNvPr id="46" name="Shape 33"/>
          <p:cNvSpPr/>
          <p:nvPr/>
        </p:nvSpPr>
        <p:spPr>
          <a:xfrm>
            <a:off x="5847588" y="6327648"/>
            <a:ext cx="320040" cy="320040"/>
          </a:xfrm>
          <a:prstGeom prst="ellipse">
            <a:avLst/>
          </a:prstGeom>
          <a:solidFill>
            <a:srgbClr val="E8D5FF"/>
          </a:solidFill>
          <a:ln/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3308" y="6373368"/>
            <a:ext cx="228600" cy="22860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304788" y="63093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Pengabaian (neglect) yang berkepanjangan</a:t>
            </a:r>
            <a:endParaRPr lang="en-US" sz="1100" dirty="0"/>
          </a:p>
        </p:txBody>
      </p:sp>
      <p:sp>
        <p:nvSpPr>
          <p:cNvPr id="49" name="Shape 35"/>
          <p:cNvSpPr/>
          <p:nvPr/>
        </p:nvSpPr>
        <p:spPr>
          <a:xfrm>
            <a:off x="5847588" y="6784848"/>
            <a:ext cx="320040" cy="320040"/>
          </a:xfrm>
          <a:prstGeom prst="ellipse">
            <a:avLst/>
          </a:prstGeom>
          <a:solidFill>
            <a:srgbClr val="E8D5FF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93308" y="6830568"/>
            <a:ext cx="228600" cy="22860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6304788" y="67665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 yang tidak aman dan tidak dapat diprediksi</a:t>
            </a:r>
            <a:endParaRPr lang="en-US" sz="1100" dirty="0"/>
          </a:p>
        </p:txBody>
      </p:sp>
      <p:sp>
        <p:nvSpPr>
          <p:cNvPr id="52" name="Shape 37"/>
          <p:cNvSpPr/>
          <p:nvPr/>
        </p:nvSpPr>
        <p:spPr>
          <a:xfrm>
            <a:off x="5847588" y="7242048"/>
            <a:ext cx="320040" cy="320040"/>
          </a:xfrm>
          <a:prstGeom prst="ellipse">
            <a:avLst/>
          </a:prstGeom>
          <a:solidFill>
            <a:srgbClr val="E8D5FF"/>
          </a:solidFill>
          <a:ln/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3308" y="7287768"/>
            <a:ext cx="228600" cy="22860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6304788" y="72237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disosiasi tinggi (model diathesis-stress)</a:t>
            </a:r>
            <a:endParaRPr lang="en-US" sz="1100" dirty="0"/>
          </a:p>
        </p:txBody>
      </p:sp>
      <p:sp>
        <p:nvSpPr>
          <p:cNvPr id="55" name="Shape 39"/>
          <p:cNvSpPr/>
          <p:nvPr/>
        </p:nvSpPr>
        <p:spPr>
          <a:xfrm>
            <a:off x="5847588" y="7699248"/>
            <a:ext cx="320040" cy="320040"/>
          </a:xfrm>
          <a:prstGeom prst="ellipse">
            <a:avLst/>
          </a:prstGeom>
          <a:solidFill>
            <a:srgbClr val="E8D5FF"/>
          </a:solidFill>
          <a:ln/>
        </p:spPr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93308" y="7744968"/>
            <a:ext cx="228600" cy="228600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6304788" y="7680960"/>
            <a:ext cx="3424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Kurangnya dukungan sosial dan figur kelekatan yang aman</a:t>
            </a:r>
            <a:endParaRPr lang="en-US" sz="1100" dirty="0"/>
          </a:p>
        </p:txBody>
      </p:sp>
      <p:sp>
        <p:nvSpPr>
          <p:cNvPr id="58" name="Shape 41"/>
          <p:cNvSpPr/>
          <p:nvPr/>
        </p:nvSpPr>
        <p:spPr>
          <a:xfrm>
            <a:off x="1463040" y="8366760"/>
            <a:ext cx="7763256" cy="36576"/>
          </a:xfrm>
          <a:prstGeom prst="rect">
            <a:avLst/>
          </a:prstGeom>
          <a:solidFill>
            <a:srgbClr val="D4F0F0"/>
          </a:solidFill>
          <a:ln/>
        </p:spPr>
      </p:sp>
      <p:sp>
        <p:nvSpPr>
          <p:cNvPr id="59" name="Shape 42"/>
          <p:cNvSpPr/>
          <p:nvPr/>
        </p:nvSpPr>
        <p:spPr>
          <a:xfrm>
            <a:off x="548640" y="8641080"/>
            <a:ext cx="9592056" cy="3657600"/>
          </a:xfrm>
          <a:prstGeom prst="roundRect">
            <a:avLst>
              <a:gd name="adj" fmla="val 3000"/>
            </a:avLst>
          </a:prstGeom>
          <a:solidFill>
            <a:srgbClr val="FFFB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Text 43"/>
          <p:cNvSpPr/>
          <p:nvPr/>
        </p:nvSpPr>
        <p:spPr>
          <a:xfrm>
            <a:off x="914400" y="8823960"/>
            <a:ext cx="8860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7B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Mitos vs Fakta</a:t>
            </a:r>
            <a:endParaRPr lang="en-US" sz="2000" dirty="0"/>
          </a:p>
        </p:txBody>
      </p:sp>
      <p:sp>
        <p:nvSpPr>
          <p:cNvPr id="61" name="Shape 44"/>
          <p:cNvSpPr/>
          <p:nvPr/>
        </p:nvSpPr>
        <p:spPr>
          <a:xfrm>
            <a:off x="822960" y="9372600"/>
            <a:ext cx="4384548" cy="365760"/>
          </a:xfrm>
          <a:prstGeom prst="roundRect">
            <a:avLst>
              <a:gd name="adj" fmla="val 20000"/>
            </a:avLst>
          </a:prstGeom>
          <a:solidFill>
            <a:srgbClr val="F4A7A3"/>
          </a:solidFill>
          <a:ln/>
        </p:spPr>
      </p:sp>
      <p:sp>
        <p:nvSpPr>
          <p:cNvPr id="62" name="Text 45"/>
          <p:cNvSpPr/>
          <p:nvPr/>
        </p:nvSpPr>
        <p:spPr>
          <a:xfrm>
            <a:off x="822960" y="9372600"/>
            <a:ext cx="4384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</a:t>
            </a:r>
            <a:endParaRPr lang="en-US" sz="1200" dirty="0"/>
          </a:p>
        </p:txBody>
      </p:sp>
      <p:sp>
        <p:nvSpPr>
          <p:cNvPr id="63" name="Shape 46"/>
          <p:cNvSpPr/>
          <p:nvPr/>
        </p:nvSpPr>
        <p:spPr>
          <a:xfrm>
            <a:off x="5481828" y="9372600"/>
            <a:ext cx="4384548" cy="365760"/>
          </a:xfrm>
          <a:prstGeom prst="roundRect">
            <a:avLst>
              <a:gd name="adj" fmla="val 20000"/>
            </a:avLst>
          </a:prstGeom>
          <a:solidFill>
            <a:srgbClr val="A8D5A2"/>
          </a:solidFill>
          <a:ln/>
        </p:spPr>
      </p:sp>
      <p:sp>
        <p:nvSpPr>
          <p:cNvPr id="64" name="Text 47"/>
          <p:cNvSpPr/>
          <p:nvPr/>
        </p:nvSpPr>
        <p:spPr>
          <a:xfrm>
            <a:off x="5481828" y="9372600"/>
            <a:ext cx="4384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200" dirty="0"/>
          </a:p>
        </p:txBody>
      </p:sp>
      <p:sp>
        <p:nvSpPr>
          <p:cNvPr id="65" name="Shape 48"/>
          <p:cNvSpPr/>
          <p:nvPr/>
        </p:nvSpPr>
        <p:spPr>
          <a:xfrm>
            <a:off x="822960" y="9875520"/>
            <a:ext cx="4384548" cy="566928"/>
          </a:xfrm>
          <a:prstGeom prst="roundRect">
            <a:avLst>
              <a:gd name="adj" fmla="val 9677"/>
            </a:avLst>
          </a:prstGeom>
          <a:solidFill>
            <a:srgbClr val="FFF0EF"/>
          </a:solidFill>
          <a:ln/>
        </p:spPr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2688" y="10012680"/>
            <a:ext cx="292608" cy="292608"/>
          </a:xfrm>
          <a:prstGeom prst="rect">
            <a:avLst/>
          </a:prstGeom>
        </p:spPr>
      </p:pic>
      <p:sp>
        <p:nvSpPr>
          <p:cNvPr id="67" name="Text 49"/>
          <p:cNvSpPr/>
          <p:nvPr/>
        </p:nvSpPr>
        <p:spPr>
          <a:xfrm>
            <a:off x="1298448" y="9875520"/>
            <a:ext cx="3790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sama dengan skizofrenia</a:t>
            </a:r>
            <a:endParaRPr lang="en-US" sz="1050" dirty="0"/>
          </a:p>
        </p:txBody>
      </p:sp>
      <p:sp>
        <p:nvSpPr>
          <p:cNvPr id="68" name="Shape 50"/>
          <p:cNvSpPr/>
          <p:nvPr/>
        </p:nvSpPr>
        <p:spPr>
          <a:xfrm>
            <a:off x="5481828" y="9875520"/>
            <a:ext cx="4384548" cy="566928"/>
          </a:xfrm>
          <a:prstGeom prst="roundRect">
            <a:avLst>
              <a:gd name="adj" fmla="val 9677"/>
            </a:avLst>
          </a:prstGeom>
          <a:solidFill>
            <a:srgbClr val="F0FFF0"/>
          </a:solidFill>
          <a:ln/>
        </p:spPr>
      </p:sp>
      <p:pic>
        <p:nvPicPr>
          <p:cNvPr id="6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91556" y="10012680"/>
            <a:ext cx="292608" cy="292608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5957316" y="9875520"/>
            <a:ext cx="3790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dan skizofrenia adalah dua gangguan yang berbeda. DID melibatkan fragmentasi identitas, bukan halusinasi/delusi.</a:t>
            </a:r>
            <a:endParaRPr lang="en-US" sz="1050" dirty="0"/>
          </a:p>
        </p:txBody>
      </p:sp>
      <p:sp>
        <p:nvSpPr>
          <p:cNvPr id="71" name="Shape 52"/>
          <p:cNvSpPr/>
          <p:nvPr/>
        </p:nvSpPr>
        <p:spPr>
          <a:xfrm>
            <a:off x="822960" y="10469880"/>
            <a:ext cx="4384548" cy="566928"/>
          </a:xfrm>
          <a:prstGeom prst="roundRect">
            <a:avLst>
              <a:gd name="adj" fmla="val 9677"/>
            </a:avLst>
          </a:prstGeom>
          <a:solidFill>
            <a:srgbClr val="FFF0EF"/>
          </a:solidFill>
          <a:ln/>
        </p:spPr>
      </p:sp>
      <p:pic>
        <p:nvPicPr>
          <p:cNvPr id="7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688" y="10607040"/>
            <a:ext cx="292608" cy="292608"/>
          </a:xfrm>
          <a:prstGeom prst="rect">
            <a:avLst/>
          </a:prstGeom>
        </p:spPr>
      </p:pic>
      <p:sp>
        <p:nvSpPr>
          <p:cNvPr id="73" name="Text 53"/>
          <p:cNvSpPr/>
          <p:nvPr/>
        </p:nvSpPr>
        <p:spPr>
          <a:xfrm>
            <a:off x="1298448" y="10469880"/>
            <a:ext cx="3790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dengan DID berbahaya dan tidak terkendali</a:t>
            </a:r>
            <a:endParaRPr lang="en-US" sz="1050" dirty="0"/>
          </a:p>
        </p:txBody>
      </p:sp>
      <p:sp>
        <p:nvSpPr>
          <p:cNvPr id="74" name="Shape 54"/>
          <p:cNvSpPr/>
          <p:nvPr/>
        </p:nvSpPr>
        <p:spPr>
          <a:xfrm>
            <a:off x="5481828" y="10469880"/>
            <a:ext cx="4384548" cy="566928"/>
          </a:xfrm>
          <a:prstGeom prst="roundRect">
            <a:avLst>
              <a:gd name="adj" fmla="val 9677"/>
            </a:avLst>
          </a:prstGeom>
          <a:solidFill>
            <a:srgbClr val="F0FFF0"/>
          </a:solidFill>
          <a:ln/>
        </p:spPr>
      </p:sp>
      <p:pic>
        <p:nvPicPr>
          <p:cNvPr id="7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91556" y="10607040"/>
            <a:ext cx="292608" cy="292608"/>
          </a:xfrm>
          <a:prstGeom prst="rect">
            <a:avLst/>
          </a:prstGeom>
        </p:spPr>
      </p:pic>
      <p:sp>
        <p:nvSpPr>
          <p:cNvPr id="76" name="Text 55"/>
          <p:cNvSpPr/>
          <p:nvPr/>
        </p:nvSpPr>
        <p:spPr>
          <a:xfrm>
            <a:off x="5957316" y="10469880"/>
            <a:ext cx="3790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Penyandang DID justru lebih rentan menjadi korban kekerasan. Sebagian besar hidup secara fungsional.</a:t>
            </a:r>
            <a:endParaRPr lang="en-US" sz="1050" dirty="0"/>
          </a:p>
        </p:txBody>
      </p:sp>
      <p:sp>
        <p:nvSpPr>
          <p:cNvPr id="77" name="Shape 56"/>
          <p:cNvSpPr/>
          <p:nvPr/>
        </p:nvSpPr>
        <p:spPr>
          <a:xfrm>
            <a:off x="822960" y="11064240"/>
            <a:ext cx="4384548" cy="566928"/>
          </a:xfrm>
          <a:prstGeom prst="roundRect">
            <a:avLst>
              <a:gd name="adj" fmla="val 9677"/>
            </a:avLst>
          </a:prstGeom>
          <a:solidFill>
            <a:srgbClr val="FFF0EF"/>
          </a:solidFill>
          <a:ln/>
        </p:spPr>
      </p:sp>
      <p:pic>
        <p:nvPicPr>
          <p:cNvPr id="7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2688" y="11201400"/>
            <a:ext cx="292608" cy="292608"/>
          </a:xfrm>
          <a:prstGeom prst="rect">
            <a:avLst/>
          </a:prstGeom>
        </p:spPr>
      </p:pic>
      <p:sp>
        <p:nvSpPr>
          <p:cNvPr id="79" name="Text 57"/>
          <p:cNvSpPr/>
          <p:nvPr/>
        </p:nvSpPr>
        <p:spPr>
          <a:xfrm>
            <a:off x="1298448" y="11064240"/>
            <a:ext cx="3790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hanyalah akting atau berpura-pura</a:t>
            </a:r>
            <a:endParaRPr lang="en-US" sz="1050" dirty="0"/>
          </a:p>
        </p:txBody>
      </p:sp>
      <p:sp>
        <p:nvSpPr>
          <p:cNvPr id="80" name="Shape 58"/>
          <p:cNvSpPr/>
          <p:nvPr/>
        </p:nvSpPr>
        <p:spPr>
          <a:xfrm>
            <a:off x="5481828" y="11064240"/>
            <a:ext cx="4384548" cy="566928"/>
          </a:xfrm>
          <a:prstGeom prst="roundRect">
            <a:avLst>
              <a:gd name="adj" fmla="val 9677"/>
            </a:avLst>
          </a:prstGeom>
          <a:solidFill>
            <a:srgbClr val="F0FFF0"/>
          </a:solidFill>
          <a:ln/>
        </p:spPr>
      </p:sp>
      <p:pic>
        <p:nvPicPr>
          <p:cNvPr id="8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91556" y="11201400"/>
            <a:ext cx="292608" cy="292608"/>
          </a:xfrm>
          <a:prstGeom prst="rect">
            <a:avLst/>
          </a:prstGeom>
        </p:spPr>
      </p:pic>
      <p:sp>
        <p:nvSpPr>
          <p:cNvPr id="82" name="Text 59"/>
          <p:cNvSpPr/>
          <p:nvPr/>
        </p:nvSpPr>
        <p:spPr>
          <a:xfrm>
            <a:off x="5957316" y="11064240"/>
            <a:ext cx="3790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adalah gangguan yang diakui secara klinis dalam DSM-5-TR, dengan dasar neurobiologis yang kuat.</a:t>
            </a:r>
            <a:endParaRPr lang="en-US" sz="1050" dirty="0"/>
          </a:p>
        </p:txBody>
      </p:sp>
      <p:sp>
        <p:nvSpPr>
          <p:cNvPr id="83" name="Shape 60"/>
          <p:cNvSpPr/>
          <p:nvPr/>
        </p:nvSpPr>
        <p:spPr>
          <a:xfrm>
            <a:off x="822960" y="11658600"/>
            <a:ext cx="4384548" cy="566928"/>
          </a:xfrm>
          <a:prstGeom prst="roundRect">
            <a:avLst>
              <a:gd name="adj" fmla="val 9677"/>
            </a:avLst>
          </a:prstGeom>
          <a:solidFill>
            <a:srgbClr val="FFF0EF"/>
          </a:solidFill>
          <a:ln/>
        </p:spPr>
      </p:sp>
      <p:pic>
        <p:nvPicPr>
          <p:cNvPr id="8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2688" y="11795760"/>
            <a:ext cx="292608" cy="292608"/>
          </a:xfrm>
          <a:prstGeom prst="rect">
            <a:avLst/>
          </a:prstGeom>
        </p:spPr>
      </p:pic>
      <p:sp>
        <p:nvSpPr>
          <p:cNvPr id="85" name="Text 61"/>
          <p:cNvSpPr/>
          <p:nvPr/>
        </p:nvSpPr>
        <p:spPr>
          <a:xfrm>
            <a:off x="1298448" y="11658600"/>
            <a:ext cx="3790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tidak bisa disembuhkan</a:t>
            </a:r>
            <a:endParaRPr lang="en-US" sz="1050" dirty="0"/>
          </a:p>
        </p:txBody>
      </p:sp>
      <p:sp>
        <p:nvSpPr>
          <p:cNvPr id="86" name="Shape 62"/>
          <p:cNvSpPr/>
          <p:nvPr/>
        </p:nvSpPr>
        <p:spPr>
          <a:xfrm>
            <a:off x="5481828" y="11658600"/>
            <a:ext cx="4384548" cy="566928"/>
          </a:xfrm>
          <a:prstGeom prst="roundRect">
            <a:avLst>
              <a:gd name="adj" fmla="val 9677"/>
            </a:avLst>
          </a:prstGeom>
          <a:solidFill>
            <a:srgbClr val="F0FFF0"/>
          </a:solidFill>
          <a:ln/>
        </p:spPr>
      </p:sp>
      <p:pic>
        <p:nvPicPr>
          <p:cNvPr id="8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91556" y="11795760"/>
            <a:ext cx="292608" cy="292608"/>
          </a:xfrm>
          <a:prstGeom prst="rect">
            <a:avLst/>
          </a:prstGeom>
        </p:spPr>
      </p:pic>
      <p:sp>
        <p:nvSpPr>
          <p:cNvPr id="88" name="Text 63"/>
          <p:cNvSpPr/>
          <p:nvPr/>
        </p:nvSpPr>
        <p:spPr>
          <a:xfrm>
            <a:off x="5957316" y="11658600"/>
            <a:ext cx="3790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psikoterapi berbasis fase yang tepat, banyak penyandang DID mencapai integrasi dan pemulihan.</a:t>
            </a:r>
            <a:endParaRPr lang="en-US" sz="1050" dirty="0"/>
          </a:p>
        </p:txBody>
      </p:sp>
      <p:sp>
        <p:nvSpPr>
          <p:cNvPr id="89" name="Shape 64"/>
          <p:cNvSpPr/>
          <p:nvPr/>
        </p:nvSpPr>
        <p:spPr>
          <a:xfrm>
            <a:off x="1463040" y="12527280"/>
            <a:ext cx="7763256" cy="36576"/>
          </a:xfrm>
          <a:prstGeom prst="rect">
            <a:avLst/>
          </a:prstGeom>
          <a:solidFill>
            <a:srgbClr val="D4F0F0"/>
          </a:solidFill>
          <a:ln/>
        </p:spPr>
      </p:sp>
      <p:sp>
        <p:nvSpPr>
          <p:cNvPr id="90" name="Shape 65"/>
          <p:cNvSpPr/>
          <p:nvPr/>
        </p:nvSpPr>
        <p:spPr>
          <a:xfrm>
            <a:off x="548640" y="12801600"/>
            <a:ext cx="4613148" cy="201168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1" name="Shape 66"/>
          <p:cNvSpPr/>
          <p:nvPr/>
        </p:nvSpPr>
        <p:spPr>
          <a:xfrm>
            <a:off x="548640" y="12801600"/>
            <a:ext cx="4613148" cy="73152"/>
          </a:xfrm>
          <a:prstGeom prst="roundRect">
            <a:avLst>
              <a:gd name="adj" fmla="val 50000"/>
            </a:avLst>
          </a:prstGeom>
          <a:solidFill>
            <a:srgbClr val="2A7B88"/>
          </a:solidFill>
          <a:ln/>
        </p:spPr>
      </p:sp>
      <p:sp>
        <p:nvSpPr>
          <p:cNvPr id="92" name="Shape 67"/>
          <p:cNvSpPr/>
          <p:nvPr/>
        </p:nvSpPr>
        <p:spPr>
          <a:xfrm>
            <a:off x="822960" y="12984480"/>
            <a:ext cx="502920" cy="502920"/>
          </a:xfrm>
          <a:prstGeom prst="ellipse">
            <a:avLst/>
          </a:prstGeom>
          <a:solidFill>
            <a:srgbClr val="D4F0F0"/>
          </a:solidFill>
          <a:ln/>
        </p:spPr>
      </p:sp>
      <p:pic>
        <p:nvPicPr>
          <p:cNvPr id="9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6968" y="13048488"/>
            <a:ext cx="365760" cy="365760"/>
          </a:xfrm>
          <a:prstGeom prst="rect">
            <a:avLst/>
          </a:prstGeom>
        </p:spPr>
      </p:pic>
      <p:sp>
        <p:nvSpPr>
          <p:cNvPr id="94" name="Text 68"/>
          <p:cNvSpPr/>
          <p:nvPr/>
        </p:nvSpPr>
        <p:spPr>
          <a:xfrm>
            <a:off x="1463040" y="12984480"/>
            <a:ext cx="3424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7B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Dampak Kehidupan</a:t>
            </a:r>
            <a:endParaRPr lang="en-US" sz="1600" dirty="0"/>
          </a:p>
        </p:txBody>
      </p:sp>
      <p:sp>
        <p:nvSpPr>
          <p:cNvPr id="95" name="Shape 69"/>
          <p:cNvSpPr/>
          <p:nvPr/>
        </p:nvSpPr>
        <p:spPr>
          <a:xfrm>
            <a:off x="868680" y="13606272"/>
            <a:ext cx="164592" cy="164592"/>
          </a:xfrm>
          <a:prstGeom prst="ellipse">
            <a:avLst/>
          </a:prstGeom>
          <a:solidFill>
            <a:srgbClr val="2A7B88"/>
          </a:solidFill>
          <a:ln/>
        </p:spPr>
      </p:sp>
      <p:sp>
        <p:nvSpPr>
          <p:cNvPr id="96" name="Text 70"/>
          <p:cNvSpPr/>
          <p:nvPr/>
        </p:nvSpPr>
        <p:spPr>
          <a:xfrm>
            <a:off x="1143000" y="13578840"/>
            <a:ext cx="369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Kesulitan dalam hubungan interpersonal</a:t>
            </a:r>
            <a:endParaRPr lang="en-US" sz="1050" dirty="0"/>
          </a:p>
        </p:txBody>
      </p:sp>
      <p:sp>
        <p:nvSpPr>
          <p:cNvPr id="97" name="Shape 71"/>
          <p:cNvSpPr/>
          <p:nvPr/>
        </p:nvSpPr>
        <p:spPr>
          <a:xfrm>
            <a:off x="868680" y="13853160"/>
            <a:ext cx="164592" cy="164592"/>
          </a:xfrm>
          <a:prstGeom prst="ellipse">
            <a:avLst/>
          </a:prstGeom>
          <a:solidFill>
            <a:srgbClr val="2A7B88"/>
          </a:solidFill>
          <a:ln/>
        </p:spPr>
      </p:sp>
      <p:sp>
        <p:nvSpPr>
          <p:cNvPr id="98" name="Text 72"/>
          <p:cNvSpPr/>
          <p:nvPr/>
        </p:nvSpPr>
        <p:spPr>
          <a:xfrm>
            <a:off x="1143000" y="13825728"/>
            <a:ext cx="369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Gangguan fungsi pekerjaan dan akademik</a:t>
            </a:r>
            <a:endParaRPr lang="en-US" sz="1050" dirty="0"/>
          </a:p>
        </p:txBody>
      </p:sp>
      <p:sp>
        <p:nvSpPr>
          <p:cNvPr id="99" name="Shape 73"/>
          <p:cNvSpPr/>
          <p:nvPr/>
        </p:nvSpPr>
        <p:spPr>
          <a:xfrm>
            <a:off x="868680" y="14100048"/>
            <a:ext cx="164592" cy="164592"/>
          </a:xfrm>
          <a:prstGeom prst="ellipse">
            <a:avLst/>
          </a:prstGeom>
          <a:solidFill>
            <a:srgbClr val="2A7B88"/>
          </a:solidFill>
          <a:ln/>
        </p:spPr>
      </p:sp>
      <p:sp>
        <p:nvSpPr>
          <p:cNvPr id="100" name="Text 74"/>
          <p:cNvSpPr/>
          <p:nvPr/>
        </p:nvSpPr>
        <p:spPr>
          <a:xfrm>
            <a:off x="1143000" y="14072616"/>
            <a:ext cx="369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Komorbiditas: depresi, kecemasan, PTSD</a:t>
            </a:r>
            <a:endParaRPr lang="en-US" sz="1050" dirty="0"/>
          </a:p>
        </p:txBody>
      </p:sp>
      <p:sp>
        <p:nvSpPr>
          <p:cNvPr id="101" name="Shape 75"/>
          <p:cNvSpPr/>
          <p:nvPr/>
        </p:nvSpPr>
        <p:spPr>
          <a:xfrm>
            <a:off x="868680" y="14346936"/>
            <a:ext cx="164592" cy="164592"/>
          </a:xfrm>
          <a:prstGeom prst="ellipse">
            <a:avLst/>
          </a:prstGeom>
          <a:solidFill>
            <a:srgbClr val="2A7B88"/>
          </a:solidFill>
          <a:ln/>
        </p:spPr>
      </p:sp>
      <p:sp>
        <p:nvSpPr>
          <p:cNvPr id="102" name="Text 76"/>
          <p:cNvSpPr/>
          <p:nvPr/>
        </p:nvSpPr>
        <p:spPr>
          <a:xfrm>
            <a:off x="1143000" y="14319504"/>
            <a:ext cx="369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Kebingungan identitas dan stigma sosial</a:t>
            </a:r>
            <a:endParaRPr lang="en-US" sz="1050" dirty="0"/>
          </a:p>
        </p:txBody>
      </p:sp>
      <p:sp>
        <p:nvSpPr>
          <p:cNvPr id="103" name="Shape 77"/>
          <p:cNvSpPr/>
          <p:nvPr/>
        </p:nvSpPr>
        <p:spPr>
          <a:xfrm>
            <a:off x="5527548" y="12801600"/>
            <a:ext cx="4613148" cy="201168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4" name="Shape 78"/>
          <p:cNvSpPr/>
          <p:nvPr/>
        </p:nvSpPr>
        <p:spPr>
          <a:xfrm>
            <a:off x="5527548" y="12801600"/>
            <a:ext cx="4613148" cy="7315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/>
        </p:spPr>
      </p:sp>
      <p:sp>
        <p:nvSpPr>
          <p:cNvPr id="105" name="Shape 79"/>
          <p:cNvSpPr/>
          <p:nvPr/>
        </p:nvSpPr>
        <p:spPr>
          <a:xfrm>
            <a:off x="5801868" y="12984480"/>
            <a:ext cx="502920" cy="502920"/>
          </a:xfrm>
          <a:prstGeom prst="ellipse">
            <a:avLst/>
          </a:prstGeom>
          <a:solidFill>
            <a:srgbClr val="E8D5FF"/>
          </a:solidFill>
          <a:ln/>
        </p:spPr>
      </p:sp>
      <p:pic>
        <p:nvPicPr>
          <p:cNvPr id="10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65876" y="13048488"/>
            <a:ext cx="365760" cy="365760"/>
          </a:xfrm>
          <a:prstGeom prst="rect">
            <a:avLst/>
          </a:prstGeom>
        </p:spPr>
      </p:pic>
      <p:sp>
        <p:nvSpPr>
          <p:cNvPr id="107" name="Text 80"/>
          <p:cNvSpPr/>
          <p:nvPr/>
        </p:nvSpPr>
        <p:spPr>
          <a:xfrm>
            <a:off x="6441948" y="12984480"/>
            <a:ext cx="3424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Penanganan</a:t>
            </a:r>
            <a:endParaRPr lang="en-US" sz="1600" dirty="0"/>
          </a:p>
        </p:txBody>
      </p:sp>
      <p:sp>
        <p:nvSpPr>
          <p:cNvPr id="108" name="Shape 81"/>
          <p:cNvSpPr/>
          <p:nvPr/>
        </p:nvSpPr>
        <p:spPr>
          <a:xfrm>
            <a:off x="5847588" y="13606272"/>
            <a:ext cx="164592" cy="16459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09" name="Text 82"/>
          <p:cNvSpPr/>
          <p:nvPr/>
        </p:nvSpPr>
        <p:spPr>
          <a:xfrm>
            <a:off x="6121908" y="13578840"/>
            <a:ext cx="369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Psikoterapi berbasis fase (stabilisasi, pengolahan trauma, integrasi)</a:t>
            </a:r>
            <a:endParaRPr lang="en-US" sz="1050" dirty="0"/>
          </a:p>
        </p:txBody>
      </p:sp>
      <p:sp>
        <p:nvSpPr>
          <p:cNvPr id="110" name="Shape 83"/>
          <p:cNvSpPr/>
          <p:nvPr/>
        </p:nvSpPr>
        <p:spPr>
          <a:xfrm>
            <a:off x="5847588" y="13825728"/>
            <a:ext cx="164592" cy="16459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11" name="Text 84"/>
          <p:cNvSpPr/>
          <p:nvPr/>
        </p:nvSpPr>
        <p:spPr>
          <a:xfrm>
            <a:off x="6121908" y="13798296"/>
            <a:ext cx="369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Dialectical Behavior Therapy (DBT)</a:t>
            </a:r>
            <a:endParaRPr lang="en-US" sz="1050" dirty="0"/>
          </a:p>
        </p:txBody>
      </p:sp>
      <p:sp>
        <p:nvSpPr>
          <p:cNvPr id="112" name="Shape 85"/>
          <p:cNvSpPr/>
          <p:nvPr/>
        </p:nvSpPr>
        <p:spPr>
          <a:xfrm>
            <a:off x="5847588" y="14045184"/>
            <a:ext cx="164592" cy="16459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13" name="Text 86"/>
          <p:cNvSpPr/>
          <p:nvPr/>
        </p:nvSpPr>
        <p:spPr>
          <a:xfrm>
            <a:off x="6121908" y="14017752"/>
            <a:ext cx="369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Movement Desensitization and Reprocessing (EMDR)</a:t>
            </a:r>
            <a:endParaRPr lang="en-US" sz="1050" dirty="0"/>
          </a:p>
        </p:txBody>
      </p:sp>
      <p:sp>
        <p:nvSpPr>
          <p:cNvPr id="114" name="Shape 87"/>
          <p:cNvSpPr/>
          <p:nvPr/>
        </p:nvSpPr>
        <p:spPr>
          <a:xfrm>
            <a:off x="5847588" y="14264640"/>
            <a:ext cx="164592" cy="16459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15" name="Text 88"/>
          <p:cNvSpPr/>
          <p:nvPr/>
        </p:nvSpPr>
        <p:spPr>
          <a:xfrm>
            <a:off x="6121908" y="14237208"/>
            <a:ext cx="369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Farmakoterapi untuk komorbiditas</a:t>
            </a:r>
            <a:endParaRPr lang="en-US" sz="1050" dirty="0"/>
          </a:p>
        </p:txBody>
      </p:sp>
      <p:sp>
        <p:nvSpPr>
          <p:cNvPr id="116" name="Shape 89"/>
          <p:cNvSpPr/>
          <p:nvPr/>
        </p:nvSpPr>
        <p:spPr>
          <a:xfrm>
            <a:off x="5847588" y="14484096"/>
            <a:ext cx="164592" cy="16459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17" name="Text 90"/>
          <p:cNvSpPr/>
          <p:nvPr/>
        </p:nvSpPr>
        <p:spPr>
          <a:xfrm>
            <a:off x="6121908" y="14456664"/>
            <a:ext cx="369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keluarga dan sistem sosial</a:t>
            </a:r>
            <a:endParaRPr lang="en-US" sz="1050" dirty="0"/>
          </a:p>
        </p:txBody>
      </p:sp>
      <p:sp>
        <p:nvSpPr>
          <p:cNvPr id="123" name="Text 94"/>
          <p:cNvSpPr/>
          <p:nvPr/>
        </p:nvSpPr>
        <p:spPr>
          <a:xfrm>
            <a:off x="548640" y="14859000"/>
            <a:ext cx="9592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 Mahadika Sujianto | Psikopatologi | 2026    |    Ref: APA (2022). DSM-5-TR; Brand et al. (2014). J Trauma Dissociation; Nevid et al. (2018). Psikologi Abnormal.</a:t>
            </a:r>
            <a:endParaRPr lang="en-US" sz="850" dirty="0"/>
          </a:p>
        </p:txBody>
      </p:sp>
      <p:sp>
        <p:nvSpPr>
          <p:cNvPr id="124" name="Shape 95"/>
          <p:cNvSpPr/>
          <p:nvPr/>
        </p:nvSpPr>
        <p:spPr>
          <a:xfrm>
            <a:off x="9144000" y="7772400"/>
            <a:ext cx="1828800" cy="1828800"/>
          </a:xfrm>
          <a:prstGeom prst="ellipse">
            <a:avLst/>
          </a:prstGeom>
          <a:solidFill>
            <a:srgbClr val="C4B0E0">
              <a:alpha val="20000"/>
            </a:srgbClr>
          </a:solidFill>
          <a:ln/>
        </p:spPr>
      </p:sp>
      <p:sp>
        <p:nvSpPr>
          <p:cNvPr id="125" name="Shape 96"/>
          <p:cNvSpPr/>
          <p:nvPr/>
        </p:nvSpPr>
        <p:spPr>
          <a:xfrm>
            <a:off x="-548640" y="10972800"/>
            <a:ext cx="1645920" cy="1645920"/>
          </a:xfrm>
          <a:prstGeom prst="ellipse">
            <a:avLst/>
          </a:prstGeom>
          <a:solidFill>
            <a:srgbClr val="8EC8C8">
              <a:alpha val="20000"/>
            </a:srgbClr>
          </a:solidFill>
          <a:ln/>
        </p:spPr>
      </p:sp>
      <p:sp>
        <p:nvSpPr>
          <p:cNvPr id="126" name="Shape 97"/>
          <p:cNvSpPr/>
          <p:nvPr/>
        </p:nvSpPr>
        <p:spPr>
          <a:xfrm>
            <a:off x="-274320" y="13898880"/>
            <a:ext cx="1371600" cy="1371600"/>
          </a:xfrm>
          <a:prstGeom prst="ellipse">
            <a:avLst/>
          </a:prstGeom>
          <a:solidFill>
            <a:srgbClr val="C4B0E0">
              <a:alpha val="25000"/>
            </a:srgbClr>
          </a:solidFill>
          <a:ln/>
        </p:spPr>
      </p:sp>
      <p:sp>
        <p:nvSpPr>
          <p:cNvPr id="127" name="Shape 98"/>
          <p:cNvSpPr/>
          <p:nvPr/>
        </p:nvSpPr>
        <p:spPr>
          <a:xfrm>
            <a:off x="9601200" y="14173200"/>
            <a:ext cx="1371600" cy="1371600"/>
          </a:xfrm>
          <a:prstGeom prst="ellipse">
            <a:avLst/>
          </a:prstGeom>
          <a:solidFill>
            <a:srgbClr val="8EC8C8">
              <a:alpha val="2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Infografis DID - Poster Edukasi</dc:title>
  <dc:subject>PptxGenJS Presentation</dc:subject>
  <dc:creator>Rafi Mahadika Sujianto</dc:creator>
  <cp:lastModifiedBy>Rafi Mahadika Sujianto</cp:lastModifiedBy>
  <cp:revision>1</cp:revision>
  <dcterms:created xsi:type="dcterms:W3CDTF">2026-03-16T17:52:27Z</dcterms:created>
  <dcterms:modified xsi:type="dcterms:W3CDTF">2026-03-16T17:52:27Z</dcterms:modified>
</cp:coreProperties>
</file>